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BIOMIND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601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 i="1">
                <a:solidFill>
                  <a:srgbClr val="F1F5F9"/>
                </a:solidFill>
                <a:latin typeface="Arial"/>
              </a:defRPr>
            </a:pPr>
            <a:r>
              <a:t>"What if drug repurposing wasn't a search problem, but a reasoning problem?"</a:t>
            </a:r>
          </a:p>
          <a:p>
            <a:pPr>
              <a:spcBef>
                <a:spcPts val="1200"/>
              </a:spcBef>
              <a:defRPr sz="2000">
                <a:solidFill>
                  <a:srgbClr val="818CF8"/>
                </a:solidFill>
                <a:latin typeface="Arial"/>
              </a:defRPr>
            </a:pPr>
            <a:r>
              <a:t>BioMind: Connecting Disease Mechanisms, Drug-Target Relationships, &amp; Real-World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8686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94A3B8"/>
                </a:solidFill>
                <a:latin typeface="Arial"/>
              </a:defRPr>
            </a:pPr>
            <a:r>
              <a:t>Biomedical data is vast but deeply fragmented. BioMind integrates literature, target databases, and post-market safety records into a unified, evidence-traceable reasoning pipeline to generate explainable therapeutic hypotheses.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1. START WITH THE REAL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The Efficiency Crisis in Drug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818CF8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6B6D4"/>
                </a:solidFill>
              </a:defRPr>
            </a:pPr>
            <a:r>
              <a:t>Traditional vs. Repurposing Approaches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High Innovation Costs:</a:t>
            </a:r>
            <a:r>
              <a:t> Developing a completely new drug takes over a decade and costs billions, with a staggering 90%+ clinical failure rate.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The Repurposing Shift:</a:t>
            </a:r>
            <a:r>
              <a:t> Instead of asking *'Can we invent a new molecule?'*, we ask *'Can an existing, safety-tested molecule be useful elsewhere?'*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Leveraging Existing Knowledge:</a:t>
            </a:r>
            <a:r>
              <a:t> Repurposed drugs arrive with completed clinical trials, known pharmacology, and established manufacturing pipelines.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The Real Bottleneck:</a:t>
            </a:r>
            <a:r>
              <a:t> The problem isn't a lack of biomedical data. The problem is connecting it to make safe, reliable repurposing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800" b="1">
                <a:solidFill>
                  <a:srgbClr val="818CF8"/>
                </a:solidFill>
              </a:defRPr>
            </a:pPr>
            <a:r>
              <a:t>Comparison of Development Paths</a:t>
            </a:r>
          </a:p>
          <a:p>
            <a:pPr>
              <a:defRPr sz="1200" b="1">
                <a:solidFill>
                  <a:srgbClr val="FB7185"/>
                </a:solidFill>
              </a:defRPr>
            </a:pPr>
            <a:r>
              <a:t>TRADITIONAL DEVELOPMENT PATH</a:t>
            </a:r>
          </a:p>
          <a:p>
            <a:pPr>
              <a:spcAft>
                <a:spcPts val="1800"/>
              </a:spcAft>
              <a:defRPr sz="1100">
                <a:solidFill>
                  <a:srgbClr val="94A3B8"/>
                </a:solidFill>
              </a:defRPr>
            </a:pPr>
            <a:r>
              <a:t>Disease ➔ Invent Molecule ➔ Preclinical ➔ Clinical Trials ➔ Approval (10-12 Years, High Cost)</a:t>
            </a:r>
          </a:p>
          <a:p>
            <a:pPr>
              <a:defRPr sz="1200" b="1">
                <a:solidFill>
                  <a:srgbClr val="06B6D4"/>
                </a:solidFill>
              </a:defRPr>
            </a:pPr>
            <a:r>
              <a:t>REPURPOSING DEVELOPMENT PATH</a:t>
            </a:r>
          </a:p>
          <a:p>
            <a:pPr>
              <a:spcAft>
                <a:spcPts val="1800"/>
              </a:spcAft>
              <a:defRPr sz="1100">
                <a:solidFill>
                  <a:srgbClr val="F1F5F9"/>
                </a:solidFill>
              </a:defRPr>
            </a:pPr>
            <a:r>
              <a:t>Disease ➔ Screen Existing Approved Drugs ➔ Targeted Trials ➔ Approval (3-5 Years, Low Cost)</a:t>
            </a:r>
          </a:p>
          <a:p>
            <a:pPr>
              <a:defRPr sz="1100" i="1">
                <a:solidFill>
                  <a:srgbClr val="06B6D4"/>
                </a:solidFill>
              </a:defRPr>
            </a:pPr>
            <a:r>
              <a:t>BioMind accelerates the screening phase by mapping target mechanisms and safety profiles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2. SHOW THE FRAGMENTATION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The Siloed Biomedical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818CF8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6B6D4"/>
                </a:solidFill>
              </a:defRPr>
            </a:pPr>
            <a:r>
              <a:t>Disconnected Evidence Layers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PubMed Literature:</a:t>
            </a:r>
            <a:r>
              <a:t> Contains millions of mechanistic findings, but they are unstructured and locked in prose.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ChEMBL Database:</a:t>
            </a:r>
            <a:r>
              <a:t> Over 18,500 targets, 2.9M compounds, and 24.5M activity records, yet requires genomic mappings to connect to disease pathways.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DrugBank:</a:t>
            </a:r>
            <a:r>
              <a:t> Rich drug-drug interaction and chemical profiles, but isolated from real-world adverse reports.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FDA FAERS:</a:t>
            </a:r>
            <a:r>
              <a:t> Post-marketing clinical safety reports from millions of patients, completely separate from target-discovery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800" b="1">
                <a:solidFill>
                  <a:srgbClr val="06B6D4"/>
                </a:solidFill>
              </a:defRPr>
            </a:pPr>
            <a:r>
              <a:t>The Researcher's Manual Journey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1. </a:t>
            </a:r>
            <a:r>
              <a:rPr b="1">
                <a:solidFill>
                  <a:srgbClr val="818CF8"/>
                </a:solidFill>
              </a:rPr>
              <a:t>Disease Identification:</a:t>
            </a:r>
            <a:r>
              <a:t> Look up ALS pathways in literature.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2. </a:t>
            </a:r>
            <a:r>
              <a:rPr b="1">
                <a:solidFill>
                  <a:srgbClr val="818CF8"/>
                </a:solidFill>
              </a:rPr>
              <a:t>Mechanism Discovery:</a:t>
            </a:r>
            <a:r>
              <a:t> Identify genes/proteins involved.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3. </a:t>
            </a:r>
            <a:r>
              <a:rPr b="1">
                <a:solidFill>
                  <a:srgbClr val="818CF8"/>
                </a:solidFill>
              </a:rPr>
              <a:t>Target Mapping:</a:t>
            </a:r>
            <a:r>
              <a:t> Cross-reference proteins in ChEMBL.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4. </a:t>
            </a:r>
            <a:r>
              <a:rPr b="1">
                <a:solidFill>
                  <a:srgbClr val="818CF8"/>
                </a:solidFill>
              </a:rPr>
              <a:t>Drug Matching:</a:t>
            </a:r>
            <a:r>
              <a:t> Find approved compounds acting on targets.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5. </a:t>
            </a:r>
            <a:r>
              <a:rPr b="1">
                <a:solidFill>
                  <a:srgbClr val="818CF8"/>
                </a:solidFill>
              </a:rPr>
              <a:t>Safety Screening:</a:t>
            </a:r>
            <a:r>
              <a:t> Query FAERS for real-world side effects.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6. </a:t>
            </a:r>
            <a:r>
              <a:rPr b="1">
                <a:solidFill>
                  <a:srgbClr val="818CF8"/>
                </a:solidFill>
              </a:rPr>
              <a:t>Synthesis Decision:</a:t>
            </a:r>
            <a:r>
              <a:t> Hand-write a hypothesis report.</a:t>
            </a:r>
          </a:p>
          <a:p>
            <a:pPr>
              <a:spcBef>
                <a:spcPts val="800"/>
              </a:spcBef>
              <a:defRPr sz="1100" i="1">
                <a:solidFill>
                  <a:srgbClr val="06B6D4"/>
                </a:solidFill>
              </a:defRPr>
            </a:pPr>
            <a:r>
              <a:t>Integrating this fragmented stack is the core challenge.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3. EXISTING AI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Prediction is Not an Explanation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818CF8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6B6D4"/>
                </a:solidFill>
              </a:defRPr>
            </a:pPr>
            <a:r>
              <a:t>Knowledge Graphs &amp; Zero-Shot GNNs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>**State-of-the-Art models:** Systems like **TXGNN** perform zero-shot indications over huge medical knowledge graphs (17k+ diseases).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The Prediction Focus:</a:t>
            </a:r>
            <a:r>
              <a:t> Most KG models are designed for link prediction (*'Will drug X treat disease Y?'*) showing connections.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Inherent Limitations:</a:t>
            </a:r>
            <a:r>
              <a:t> Graphs struggle with incomplete knowledge bases, stale source data, and high computational scale.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The Triage Gap:</a:t>
            </a:r>
            <a:r>
              <a:t> A pure prediction percentage is not a defensible hypothesis. Clinicians and researchers need to know *why* it 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2000"/>
              </a:spcAft>
              <a:defRPr sz="1800" b="1">
                <a:solidFill>
                  <a:srgbClr val="818CF8"/>
                </a:solidFill>
              </a:defRPr>
            </a:pPr>
            <a:r>
              <a:t>From Prediction to Evidence Synthesis</a:t>
            </a:r>
          </a:p>
          <a:p>
            <a:pPr>
              <a:defRPr sz="1200" b="1">
                <a:solidFill>
                  <a:srgbClr val="FB7185"/>
                </a:solidFill>
              </a:defRPr>
            </a:pPr>
            <a:r>
              <a:t>EXISTING GRAPH AI SYSTEMS ASK:</a:t>
            </a:r>
          </a:p>
          <a:p>
            <a:pPr>
              <a:spcAft>
                <a:spcPts val="2000"/>
              </a:spcAft>
              <a:defRPr sz="1300">
                <a:solidFill>
                  <a:srgbClr val="F1F5F9"/>
                </a:solidFill>
              </a:defRPr>
            </a:pPr>
            <a:r>
              <a:t>"Which drugs are associated with this disease node?"</a:t>
            </a:r>
          </a:p>
          <a:p>
            <a:pPr>
              <a:defRPr sz="1200" b="1">
                <a:solidFill>
                  <a:srgbClr val="06B6D4"/>
                </a:solidFill>
              </a:defRPr>
            </a:pPr>
            <a:r>
              <a:t>BIOMIND ASKS: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"Why might this drug work, what biological mechanism connects it, and what does real-world safety say?"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4. THE SAFETY SCREENING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The Crucial Safety Dimension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818CF8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6B6D4"/>
                </a:solidFill>
              </a:defRPr>
            </a:pPr>
            <a:r>
              <a:t>Drugs Do Not Work in a Vacuum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Multi-Target Effects:</a:t>
            </a:r>
            <a:r>
              <a:t> A candidate drug might target the correct disease protein but bind to secondary proteins, causing severe side effects.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Real-World Populations:</a:t>
            </a:r>
            <a:r>
              <a:t> Controlled clinical trials have narrow cohorts. Real-world patients are diverse, taking multiple medications concurrently.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Post-Marketing Insights:</a:t>
            </a:r>
            <a:r>
              <a:t> FDA FAERS tracks millions of post-market reports, revealing adverse reactions invisible during trials.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Early Warning Shield:</a:t>
            </a:r>
            <a:r>
              <a:t> Integrating FAERS data ensures high-risk drugs with severe contraindications are deprioritized immediately.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800" b="1">
                <a:solidFill>
                  <a:srgbClr val="06B6D4"/>
                </a:solidFill>
              </a:defRPr>
            </a:pPr>
            <a:r>
              <a:t>Unified Evidence Triage</a:t>
            </a:r>
          </a:p>
          <a:p>
            <a:pPr>
              <a:spcAft>
                <a:spcPts val="800"/>
              </a:spcAft>
              <a:defRPr sz="1200" b="1">
                <a:solidFill>
                  <a:srgbClr val="818CF8"/>
                </a:solidFill>
              </a:defRPr>
            </a:pPr>
            <a:r>
              <a:t>CANDIDATE DRUG EVALUATION</a:t>
            </a:r>
          </a:p>
          <a:p>
            <a:pPr>
              <a:defRPr sz="1200" b="1">
                <a:solidFill>
                  <a:srgbClr val="06B6D4"/>
                </a:solidFill>
              </a:defRPr>
            </a:pPr>
            <a:r>
              <a:t>🧬 BIOLOGICAL EVIDENCE</a:t>
            </a:r>
          </a:p>
          <a:p>
            <a:pPr>
              <a:spcAft>
                <a:spcPts val="1400"/>
              </a:spcAft>
              <a:defRPr sz="1100">
                <a:solidFill>
                  <a:srgbClr val="F1F5F9"/>
                </a:solidFill>
              </a:defRPr>
            </a:pPr>
            <a:r>
              <a:t>Disease ➔ Pathway ➔ Target (Literature + ChEMBL Mapping)</a:t>
            </a:r>
          </a:p>
          <a:p>
            <a:pPr>
              <a:defRPr sz="1200" b="1">
                <a:solidFill>
                  <a:srgbClr val="FB7185"/>
                </a:solidFill>
              </a:defRPr>
            </a:pPr>
            <a:r>
              <a:t>🛡️ SAFETY EVIDENCE</a:t>
            </a:r>
          </a:p>
          <a:p>
            <a:pPr>
              <a:spcAft>
                <a:spcPts val="1400"/>
              </a:spcAft>
              <a:defRPr sz="1100">
                <a:solidFill>
                  <a:srgbClr val="F1F5F9"/>
                </a:solidFill>
              </a:defRPr>
            </a:pPr>
            <a:r>
              <a:t>Adverse Events ➔ Contraindications (FDA FAERS Screening)</a:t>
            </a:r>
          </a:p>
          <a:p>
            <a:pPr>
              <a:defRPr sz="1200" b="1">
                <a:solidFill>
                  <a:srgbClr val="F1F5F9"/>
                </a:solidFill>
              </a:defRPr>
            </a:pPr>
            <a:r>
              <a:t>➔ Integrated Synthesis = Ranked, Cited Therapeutic Hypothesis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5. THE BIOMIND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The 5-Agent Evidence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818CF8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6B6D4"/>
                </a:solidFill>
              </a:defRPr>
            </a:pPr>
            <a:r>
              <a:t>Deconstructed Agent Roles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LEXIS (Lit Scout):</a:t>
            </a:r>
            <a:r>
              <a:t> Extracts disease pathways and target proteins from PubMed texts, enforcing strict citation matching.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HELIX (Target Match):</a:t>
            </a:r>
            <a:r>
              <a:t> Connects proteins to drugs deterministically via curated ChEMBL bioactivity and genomic records.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SHIELD (Safety Screen):</a:t>
            </a:r>
            <a:r>
              <a:t> Evaluates safety records in FDA FAERS, tagging candidates as CLEAR, CAUTION, or FLAGGED.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ORACLE (Candidate Scorer):</a:t>
            </a:r>
            <a:r>
              <a:t> Synthesizes literature strength, pathway relevance, and safety penalties into ranked tiers.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SYNAPSE (Synthesis):</a:t>
            </a:r>
            <a:r>
              <a:t> Formulates human-readable, cited reports explaining *exactly* why a candidate 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2000"/>
              </a:spcAft>
              <a:defRPr sz="1800" b="1">
                <a:solidFill>
                  <a:srgbClr val="818CF8"/>
                </a:solidFill>
              </a:defRPr>
            </a:pPr>
            <a:r>
              <a:t>Pipeline Data Flow</a:t>
            </a:r>
          </a:p>
          <a:p>
            <a:pPr>
              <a:spcAft>
                <a:spcPts val="400"/>
              </a:spcAft>
              <a:defRPr sz="1200" b="1">
                <a:solidFill>
                  <a:srgbClr val="818CF8"/>
                </a:solidFill>
              </a:defRPr>
            </a:pPr>
          </a:p>
          <a:p>
            <a:pPr algn="l">
              <a:spcAft>
                <a:spcPts val="400"/>
              </a:spcAft>
              <a:defRPr sz="1200">
                <a:solidFill>
                  <a:srgbClr val="06B6D4"/>
                </a:solidFill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1F5F9"/>
                </a:solidFill>
              </a:defRPr>
            </a:pPr>
          </a:p>
          <a:p>
            <a:pPr algn="l">
              <a:spcAft>
                <a:spcPts val="400"/>
              </a:spcAft>
              <a:defRPr sz="1200">
                <a:solidFill>
                  <a:srgbClr val="06B6D4"/>
                </a:solidFill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1F5F9"/>
                </a:solidFill>
              </a:defRPr>
            </a:pPr>
          </a:p>
          <a:p>
            <a:pPr algn="l">
              <a:spcAft>
                <a:spcPts val="400"/>
              </a:spcAft>
              <a:defRPr sz="1200">
                <a:solidFill>
                  <a:srgbClr val="06B6D4"/>
                </a:solidFill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1F5F9"/>
                </a:solidFill>
              </a:defRPr>
            </a:pPr>
          </a:p>
          <a:p>
            <a:pPr algn="l">
              <a:spcAft>
                <a:spcPts val="400"/>
              </a:spcAft>
              <a:defRPr sz="1200">
                <a:solidFill>
                  <a:srgbClr val="06B6D4"/>
                </a:solidFill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1F5F9"/>
                </a:solidFill>
              </a:defRPr>
            </a:pPr>
          </a:p>
          <a:p>
            <a:pPr algn="l">
              <a:spcAft>
                <a:spcPts val="400"/>
              </a:spcAft>
              <a:defRPr sz="1200">
                <a:solidFill>
                  <a:srgbClr val="06B6D4"/>
                </a:solidFill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1F5F9"/>
                </a:solidFill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6. TECHNICAL FEASIBILITY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Real Engineering, Not Just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818CF8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6B6D4"/>
                </a:solidFill>
              </a:defRPr>
            </a:pPr>
            <a:r>
              <a:t>Overcoming Production Obstacles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Entity Resolution:</a:t>
            </a:r>
            <a:r>
              <a:t> In testing ALS, LEXIS found *C9orf72* but HELIX's cache had exact-string mappings. We recognized this as a heterogeneous data integration challenge.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Retrieval Quality:</a:t>
            </a:r>
            <a:r>
              <a:t> COVID-19 searches originally surfaced public health/vaccine hesitancy papers. We added task-specific search restrictions for *molecular mechanisms*.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Zero Deployment Risk:</a:t>
            </a:r>
            <a:r>
              <a:t> Currently utilizes FastAPI, LangGraph, and sqlite3 cached databases to ensure a latency-free, reproducible demonstration.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800" b="1">
                <a:solidFill>
                  <a:srgbClr val="06B6D4"/>
                </a:solidFill>
              </a:defRPr>
            </a:pPr>
            <a:r>
              <a:t>The Deeper Research Gap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Link Prediction vs. Path Explanation:</a:t>
            </a:r>
            <a:r>
              <a:t> Conventional models predict a direct *Drug-Disease* link. BioMind builds the multi-hop path: *Drug ➔ Target ➔ Pathway ➔ Disease*.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Inspired by Explainable KG:</a:t>
            </a:r>
            <a:r>
              <a:t> We build on the interpretability patterns of TXGNN but package it as a workflow-driven, readable evidence synthesizer.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Defensible Scope:</a:t>
            </a:r>
            <a:r>
              <a:t> We don't claim to replace laboratory research; we aim to radically reduce the search space for first-pass human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7. FUTURE VISION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Model Cross-Verification &amp; DDI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818CF8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6B6D4"/>
                </a:solidFill>
              </a:defRPr>
            </a:pPr>
            <a:r>
              <a:t>Collaborative Agent Architectures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Agent Cross-Verification:</a:t>
            </a:r>
            <a:r>
              <a:t> In the next release, agents will have mutual awareness, cross-verifying each other's outputs to block logical anomalies.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Drug-Drug Interactions (DDI):</a:t>
            </a:r>
            <a:r>
              <a:t> Extending DrugBank mapping to identify adverse combinatorial risks when prescribing multiple repurposed drugs.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Adversarial Critics:</a:t>
            </a:r>
            <a:r>
              <a:t> An AI Critic agent will actively search for counter-evidence, challenging a candidate before ORACLE ranks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800" b="1">
                <a:solidFill>
                  <a:srgbClr val="818CF8"/>
                </a:solidFill>
              </a:defRPr>
            </a:pPr>
            <a:r>
              <a:t>The Multi-Drug Synthesis Roadmap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Disease Model (e.g. ALS)</a:t>
            </a:r>
          </a:p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</a:defRPr>
            </a:pPr>
            <a:r>
              <a:t>➔ Candidate Drug A (Target X Action) ➔ CLEAR</a:t>
            </a:r>
          </a:p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</a:defRPr>
            </a:pPr>
            <a:r>
              <a:t>➔ Candidate Drug B (Target Y Action) ➔ CLEAR</a:t>
            </a:r>
          </a:p>
          <a:p>
            <a:pPr>
              <a:spcAft>
                <a:spcPts val="1400"/>
              </a:spcAft>
              <a:defRPr sz="1200" b="1">
                <a:solidFill>
                  <a:srgbClr val="FB7185"/>
                </a:solidFill>
              </a:defRPr>
            </a:pPr>
            <a:r>
              <a:t>➔ Combined DDI Check (A + B Interaction) ➔ CAUTION/RISK</a:t>
            </a:r>
          </a:p>
          <a:p>
            <a:pPr>
              <a:defRPr sz="1100" i="1">
                <a:solidFill>
                  <a:srgbClr val="F1F5F9"/>
                </a:solidFill>
              </a:defRPr>
            </a:pPr>
            <a:r>
              <a:t>By layering Drug-Drug Interaction checks into SHIELD, BioMind will support combinatorial drug repurposing.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8. SUMMARY &amp;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BioMind: The Synthesizing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818CF8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06B6D4"/>
                </a:solidFill>
              </a:defRPr>
            </a:pPr>
            <a:r>
              <a:t>Summary of BioMind's Core Value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BioMind is the Integrator:</a:t>
            </a:r>
            <a:r>
              <a:t> We do not compete with PubMed, ChEMBL, or FAERS; we are the layer that reasons across them.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Explainability Over Raw Score:</a:t>
            </a:r>
            <a:r>
              <a:t> Every hypothesis is generated with transparent evidence mappings, allowing immediate expert audit.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Realistic Boundaries:</a:t>
            </a:r>
            <a:r>
              <a:t> We generate prioritized hypotheses to dramatically reduce human review time, rather than claiming to replace physical lab testing.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Collaborative Roadmap:</a:t>
            </a:r>
            <a:r>
              <a:t> Upgrading our linear DAG to support cross-agent verification and drug-drug interaction safety screens.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9. CROSS-VERIFICATION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Shared Evidence Layer: All Agents Know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818CF8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6B6D4"/>
                </a:solidFill>
              </a:defRPr>
            </a:pPr>
            <a:r>
              <a:t>From Linear Chain to Shared Intelligence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Old Architecture:</a:t>
            </a:r>
            <a:r>
              <a:t> Agents only see their own outputs. HELIX does not know what LEXIS found. SHIELD does not know what HELIX matched.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New Architecture:</a:t>
            </a:r>
            <a:r>
              <a:t> All agents are initialized with the same full evidence dataset — literature, target data, and safety records — before any agent produces output.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Why It Matters:</a:t>
            </a:r>
            <a:r>
              <a:t> A drug that looks valid to HELIX may already be flagged in LEXIS literature as ineffective in vivo. SHIELD now catches this before ranking.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Shared State:</a:t>
            </a:r>
            <a:r>
              <a:t> A single evidence context object is broadcast to LEXIS, HELIX, SHIELD, and ORACLE simultaneously, eliminating information asymmetry.</a:t>
            </a:r>
          </a:p>
        </p:txBody>
      </p:sp>
      <p:pic>
        <p:nvPicPr>
          <p:cNvPr id="6" name="Picture 5" descr="shared_evidence_layer_17861980897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949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10. AGENT RATING &amp; ITERATIVE REFINEMENT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Peer Review Loop: Quality Gate Before Final Synthesis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818CF8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6B6D4"/>
                </a:solidFill>
              </a:defRPr>
            </a:pPr>
            <a:r>
              <a:t>The 9/10 Quality Gate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Step 1 — LEXIS Produces Initial Hypothesis:</a:t>
            </a:r>
            <a:r>
              <a:t> The Literature Scout generates the first disease-to-target reasoning chain with citations.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Step 2 — Parallel Peer Review:</a:t>
            </a:r>
            <a:r>
              <a:t> HELIX, SHIELD, and ORACLE each independently rate the initial hypothesis on a 1–10 scale using the shared evidence layer.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Step 3 — Quality Gate (score ≥ 9):</a:t>
            </a:r>
            <a:r>
              <a:t> If ALL reviewers rate ≥ 9/10, the hypothesis passes directly to SYNAPSE for final synthesis.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Step 4 — Critique &amp; Refinement (score &lt; 9):</a:t>
            </a:r>
            <a:r>
              <a:t> Any agent rating below 9 must submit a structured critique specifying exactly what is missing or incorrect.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/>
            </a:r>
            <a:r>
              <a:rPr b="1">
                <a:solidFill>
                  <a:srgbClr val="818CF8"/>
                </a:solidFill>
              </a:rPr>
              <a:t>Step 5 — LEXIS Revises:</a:t>
            </a:r>
            <a:r>
              <a:t> The critiques are returned to LEXIS, which updates the hypothesis. The revised output re-enters peer review. Loop continues until consensus ≥ 9.</a:t>
            </a:r>
          </a:p>
        </p:txBody>
      </p:sp>
      <p:pic>
        <p:nvPicPr>
          <p:cNvPr id="6" name="Picture 5" descr="peer_review_loop_17861981099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9496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